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926080" cy="2926080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PGCP-AC PROJECT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GreenCart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Microservices-Based Farmer-to-Buyer E-Commerce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4206240" cy="0"/>
          </a:xfrm>
          <a:prstGeom prst="line">
            <a:avLst/>
          </a:prstGeom>
          <a:noFill/>
          <a:ln w="19050">
            <a:solidFill>
              <a:srgbClr val="6FA0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657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1F4A2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041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Milind Sonawane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047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Chaudhari   </a:t>
            </a:r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260240120208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Sushant Pawar   </a:t>
            </a:r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260240120121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Ajinkya Shedge   </a:t>
            </a:r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260240120168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9801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Siddhesh Chandere   </a:t>
            </a:r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260240120186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Development of Advanced Computing (C-DAC), ACTS, Pune – 411008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produce moves from farmer to buyer through layers of intermediaries — local agents, mandis and traders — each taking a commission and adding delay. Farmers lack visibility into buyer demand; buyers lack visibility into what's available.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provides a direct digital marketplace: Farmers list produce, Wholesalers/Buyers browse, cart and order it directly — with an Admin overseeing platform health.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E4EFD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microservices?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8172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business capabilities — user management, catalogue, ordering, administration — developed, tested, scaled and deployed independently, each with the best-fit technology.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155448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69480" y="1737360"/>
            <a:ext cx="685800" cy="68580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1381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manages produce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2816352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2999232"/>
            <a:ext cx="685800" cy="68580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999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138160" y="2953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Browses, carts &amp; orders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4078224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9480" y="4261104"/>
            <a:ext cx="685800" cy="68580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261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138160" y="42153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8160" y="4535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the platform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microservices platform connecting farmers directly with wholesale buyers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310896" cy="310896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2" dirty="0"/>
          </a:p>
        </p:txBody>
      </p:sp>
      <p:sp>
        <p:nvSpPr>
          <p:cNvPr id="9" name="Text 7"/>
          <p:cNvSpPr/>
          <p:nvPr/>
        </p:nvSpPr>
        <p:spPr>
          <a:xfrm>
            <a:off x="1051560" y="20848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experiences for Farmer, Buyer and Admin from a single React frontend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52344"/>
            <a:ext cx="310896" cy="310896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2" dirty="0"/>
          </a:p>
        </p:txBody>
      </p:sp>
      <p:sp>
        <p:nvSpPr>
          <p:cNvPr id="12" name="Text 10"/>
          <p:cNvSpPr/>
          <p:nvPr/>
        </p:nvSpPr>
        <p:spPr>
          <a:xfrm>
            <a:off x="1051560" y="270662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stateless JWT authentication &amp; role-based access control across 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310896" cy="310896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2" dirty="0"/>
          </a:p>
        </p:txBody>
      </p:sp>
      <p:sp>
        <p:nvSpPr>
          <p:cNvPr id="15" name="Text 13"/>
          <p:cNvSpPr/>
          <p:nvPr/>
        </p:nvSpPr>
        <p:spPr>
          <a:xfrm>
            <a:off x="1051560" y="33284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database for catalogue, cart, orders &amp; payments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2" dirty="0"/>
          </a:p>
        </p:txBody>
      </p:sp>
      <p:sp>
        <p:nvSpPr>
          <p:cNvPr id="18" name="Text 16"/>
          <p:cNvSpPr/>
          <p:nvPr/>
        </p:nvSpPr>
        <p:spPr>
          <a:xfrm>
            <a:off x="1051560" y="39502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service discovery and centralized routing via Eureka + Spring Cloud Gateway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310896" cy="310896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2" dirty="0"/>
          </a:p>
        </p:txBody>
      </p:sp>
      <p:sp>
        <p:nvSpPr>
          <p:cNvPr id="21" name="Text 19"/>
          <p:cNvSpPr/>
          <p:nvPr/>
        </p:nvSpPr>
        <p:spPr>
          <a:xfrm>
            <a:off x="1051560" y="4572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interoperability between a Java/Spring Boot ecosystem and a .NET 8 service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23760" y="150876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1F4A24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Scope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9808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Farmer product listing &amp; stock management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0" y="2770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Buyer browsing, cart &amp; order placement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98080" y="33009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Cash-on-Delivery payment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98080" y="38313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oversight of accounts, products, orders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0" y="4434840"/>
            <a:ext cx="3794760" cy="0"/>
          </a:xfrm>
          <a:prstGeom prst="line">
            <a:avLst/>
          </a:prstGeom>
          <a:noFill/>
          <a:ln w="12700">
            <a:solidFill>
              <a:srgbClr val="6FA0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4553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0" y="4892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Online payment gateway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0" y="5257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Delivery logistics tracking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5623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Multi-language support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e-Marketplaces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trading portals for regulated mandis — strong on price transparency, but built for bulk auction-style trading rather than simple cart-and-checkout; monolithic, limited API extensibility.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Agri-Tech Apps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buyer-facing cart &amp; order flow similar to consumer e-commerce, often layering in logistics/cold-chain. Mostly built as single monolithic applications.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4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783080"/>
            <a:ext cx="457200" cy="45720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Identified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published systems describe a microservices decomposition for a farmer-buyer marketplace at small-to-medium scale — motivating GreenCart's architecture.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4EFD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differentiators of GreenCart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138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cart-based direct marketplace  •  Polyglot Java + .NET backend behind one gateway  •  Role-based dashboards (Farmer, Buyer, Admin) from a single frontend codebase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1417320"/>
            <a:ext cx="3200400" cy="685800"/>
          </a:xfrm>
          <a:prstGeom prst="roundRect">
            <a:avLst>
              <a:gd name="adj" fmla="val 9333"/>
            </a:avLst>
          </a:prstGeom>
          <a:solidFill>
            <a:srgbClr val="1F4A24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417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(SPA)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+ Axios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0" y="2103120"/>
            <a:ext cx="0" cy="320040"/>
          </a:xfrm>
          <a:prstGeom prst="line">
            <a:avLst/>
          </a:prstGeom>
          <a:noFill/>
          <a:ln w="19050">
            <a:solidFill>
              <a:srgbClr val="6B75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450592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D98E2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505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(Eureka) — Port 8761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2450592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6FA05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4505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 Cloud) — Port 8080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2779776"/>
            <a:ext cx="1051560" cy="0"/>
          </a:xfrm>
          <a:prstGeom prst="line">
            <a:avLst/>
          </a:prstGeom>
          <a:noFill/>
          <a:ln w="15875">
            <a:solidFill>
              <a:srgbClr val="6B7568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3108960"/>
            <a:ext cx="0" cy="320040"/>
          </a:xfrm>
          <a:prstGeom prst="line">
            <a:avLst/>
          </a:prstGeom>
          <a:noFill/>
          <a:ln w="19050">
            <a:solidFill>
              <a:srgbClr val="6B75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45643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Service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JWT, Roles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51660" y="3108960"/>
            <a:ext cx="0" cy="347472"/>
          </a:xfrm>
          <a:prstGeom prst="line">
            <a:avLst/>
          </a:prstGeom>
          <a:noFill/>
          <a:ln w="15875">
            <a:solidFill>
              <a:srgbClr val="6B7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64408" y="345643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Service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55848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Stock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67428" y="3108960"/>
            <a:ext cx="0" cy="347472"/>
          </a:xfrm>
          <a:prstGeom prst="line">
            <a:avLst/>
          </a:prstGeom>
          <a:noFill/>
          <a:ln w="15875">
            <a:solidFill>
              <a:srgbClr val="6B75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80176" y="345643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A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Service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71616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Orders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83196" y="3108960"/>
            <a:ext cx="0" cy="347472"/>
          </a:xfrm>
          <a:prstGeom prst="line">
            <a:avLst/>
          </a:prstGeom>
          <a:noFill/>
          <a:ln w="15875">
            <a:solidFill>
              <a:srgbClr val="6B75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95944" y="345643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A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87384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Service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87384" y="38039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C#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98964" y="3108960"/>
            <a:ext cx="0" cy="347472"/>
          </a:xfrm>
          <a:prstGeom prst="line">
            <a:avLst/>
          </a:prstGeom>
          <a:noFill/>
          <a:ln w="15875">
            <a:solidFill>
              <a:srgbClr val="6B75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80760" y="4370832"/>
            <a:ext cx="0" cy="457200"/>
          </a:xfrm>
          <a:prstGeom prst="line">
            <a:avLst/>
          </a:prstGeom>
          <a:noFill/>
          <a:ln w="19050">
            <a:solidFill>
              <a:srgbClr val="6FA05A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51960" y="4864608"/>
            <a:ext cx="3657600" cy="685800"/>
          </a:xfrm>
          <a:prstGeom prst="roundRect">
            <a:avLst>
              <a:gd name="adj" fmla="val 9333"/>
            </a:avLst>
          </a:prstGeom>
          <a:solidFill>
            <a:srgbClr val="163417"/>
          </a:solidFill>
          <a:ln/>
        </p:spPr>
      </p:sp>
      <p:sp>
        <p:nvSpPr>
          <p:cNvPr id="31" name="Text 29"/>
          <p:cNvSpPr/>
          <p:nvPr/>
        </p:nvSpPr>
        <p:spPr>
          <a:xfrm>
            <a:off x="4251960" y="48646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(greencartdb)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742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frontend never talks to a service directly — every request routes through the API Gateway, which forwards it by path to the correct downstream service. Services self-register with Eureka, decoupling the gateway from fixed IP addresses.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76" dirty="0"/>
          </a:p>
        </p:txBody>
      </p:sp>
      <p:sp>
        <p:nvSpPr>
          <p:cNvPr id="7" name="Text 5"/>
          <p:cNvSpPr/>
          <p:nvPr/>
        </p:nvSpPr>
        <p:spPr>
          <a:xfrm>
            <a:off x="1261872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Redux Toolkit, Axios, React Router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59689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SPA, state management, API calls, client-side routing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06824" y="1481328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664208"/>
            <a:ext cx="384048" cy="384048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76" dirty="0"/>
          </a:p>
        </p:txBody>
      </p:sp>
      <p:sp>
        <p:nvSpPr>
          <p:cNvPr id="13" name="Text 11"/>
          <p:cNvSpPr/>
          <p:nvPr/>
        </p:nvSpPr>
        <p:spPr>
          <a:xfrm>
            <a:off x="5020056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21671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21, Spring Boot, Spring Cloud Gateway, Spring Data JPA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07992" y="259689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Product &amp; Buyer services; REST APIs; 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65008" y="1481328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1664208"/>
            <a:ext cx="384048" cy="384048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76" dirty="0"/>
          </a:p>
        </p:txBody>
      </p:sp>
      <p:sp>
        <p:nvSpPr>
          <p:cNvPr id="19" name="Text 17"/>
          <p:cNvSpPr/>
          <p:nvPr/>
        </p:nvSpPr>
        <p:spPr>
          <a:xfrm>
            <a:off x="8778240" y="16642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66176" y="21671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(C#), ASP.NET Core, Entity Framework 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66176" y="2596896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control, reporting, orchestration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337560"/>
            <a:ext cx="384048" cy="384048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76" dirty="0"/>
          </a:p>
        </p:txBody>
      </p:sp>
      <p:sp>
        <p:nvSpPr>
          <p:cNvPr id="25" name="Text 23"/>
          <p:cNvSpPr/>
          <p:nvPr/>
        </p:nvSpPr>
        <p:spPr>
          <a:xfrm>
            <a:off x="1261872" y="3337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Discovery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384048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Eureka (Spring Cloud Netflix)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427024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registration &amp; lookup of service instances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06824" y="315468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07992" y="3337560"/>
            <a:ext cx="384048" cy="384048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30" name="Text 28"/>
          <p:cNvSpPr/>
          <p:nvPr/>
        </p:nvSpPr>
        <p:spPr>
          <a:xfrm>
            <a:off x="450799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76" dirty="0"/>
          </a:p>
        </p:txBody>
      </p:sp>
      <p:sp>
        <p:nvSpPr>
          <p:cNvPr id="31" name="Text 29"/>
          <p:cNvSpPr/>
          <p:nvPr/>
        </p:nvSpPr>
        <p:spPr>
          <a:xfrm>
            <a:off x="5020056" y="3337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7992" y="384048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(greencartdb)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07992" y="427024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relational data store, shared/split across services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65008" y="315468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66176" y="3337560"/>
            <a:ext cx="384048" cy="384048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36" name="Text 34"/>
          <p:cNvSpPr/>
          <p:nvPr/>
        </p:nvSpPr>
        <p:spPr>
          <a:xfrm>
            <a:off x="826617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76" dirty="0"/>
          </a:p>
        </p:txBody>
      </p:sp>
      <p:sp>
        <p:nvSpPr>
          <p:cNvPr id="37" name="Text 35"/>
          <p:cNvSpPr/>
          <p:nvPr/>
        </p:nvSpPr>
        <p:spPr>
          <a:xfrm>
            <a:off x="8778240" y="3337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66176" y="384048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(JWT)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66176" y="427024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 &amp; role-based authorization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normalized MySQL database, greencartdb, shared and logically split across services. Referential integrity is enforced end-to-end — e.g. every order links to a user, and every user links to a role that determines their dashboard.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484632"/>
          </a:xfrm>
          <a:prstGeom prst="roundRect">
            <a:avLst>
              <a:gd name="adj" fmla="val 9434"/>
            </a:avLst>
          </a:prstGeom>
          <a:solidFill>
            <a:srgbClr val="1F4A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2148840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01000" y="2148840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3347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11880" y="2633472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(PK), username, password, role_id (FK), area_id (FK), status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01000" y="2633472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Farmer, Buyer &amp; Admin accounts with role and approval status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11064240" cy="484632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1810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3118104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role_id (PK), role_name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01000" y="3118104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Admin / Farmer(Seller) / Buyer(Wholesaler) roles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602736"/>
            <a:ext cx="110642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02736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security_questions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3602736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question_id (PK), question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01000" y="3602736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Forgot Password recovery flow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87368"/>
            <a:ext cx="11064240" cy="484632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8736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/ areas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4087368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city_id / area_id (PK)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01000" y="4087368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hierarchy used for user addresses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642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57200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/ sub_categories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1880" y="4572000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/ sub_category_id (PK)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01000" y="4572000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taxonomy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056632"/>
            <a:ext cx="11064240" cy="484632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5663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products_stock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11880" y="5056632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(PK), pname, sub_category_id (FK)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01000" y="5056632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and available quantity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541264"/>
            <a:ext cx="110642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54126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/ order_items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11880" y="5541264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(PK), user_id (FK), pid (FK)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01000" y="5541264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header and line items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6025896"/>
            <a:ext cx="11064240" cy="484632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025896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11880" y="6025896"/>
            <a:ext cx="4297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(PK), order_id (FK), status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01000" y="6025896"/>
            <a:ext cx="3520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&amp; status per order (COD in scope)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703320" cy="45720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691640"/>
            <a:ext cx="777240" cy="77724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Login to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farmer &amp; customer accounts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 / suspend accounts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product listings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all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3703320" cy="45720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1691640"/>
            <a:ext cx="777240" cy="77724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380" dirty="0"/>
          </a:p>
        </p:txBody>
      </p:sp>
      <p:sp>
        <p:nvSpPr>
          <p:cNvPr id="16" name="Text 14"/>
          <p:cNvSpPr/>
          <p:nvPr/>
        </p:nvSpPr>
        <p:spPr>
          <a:xfrm>
            <a:off x="4389120" y="2560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/ Farmer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Register farmer account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4290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Login to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7947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Recover password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1605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&amp; update 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45262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own listings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48920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Dispatch orders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1463040"/>
            <a:ext cx="3703320" cy="45720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1691640"/>
            <a:ext cx="777240" cy="777240"/>
          </a:xfrm>
          <a:prstGeom prst="ellipse">
            <a:avLst/>
          </a:prstGeom>
          <a:solidFill>
            <a:srgbClr val="6FA05A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380" dirty="0"/>
          </a:p>
        </p:txBody>
      </p:sp>
      <p:sp>
        <p:nvSpPr>
          <p:cNvPr id="26" name="Text 24"/>
          <p:cNvSpPr/>
          <p:nvPr/>
        </p:nvSpPr>
        <p:spPr>
          <a:xfrm>
            <a:off x="8229600" y="2560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/ Buyer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49640" y="30632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Register account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49640" y="34290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Login to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37947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Recover password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49640" y="41605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Browse available products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45262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products to cart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49640" y="48920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Place order &amp; pay (COD)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52578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order 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Service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16642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4EFDD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Farmer &amp; Buyer registration/login with JWT issuance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Forgot-password recovery via security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1638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City/Area location lookup for registration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81328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Service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829800" y="16642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4EFDD"/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0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 &amp; sub-category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633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 CRUD for Farmers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31638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 management + available-products endpoint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123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Service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60520" y="41605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4EFDD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599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Cart management (add/update/remove)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129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 placement (COD) &amp; order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6601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Farmer-side order view &amp; dispatch endpoint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123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Service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829800" y="41605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4EFDD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C#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4599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Approve, suspend or deactivate accounts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5129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 product listings &amp; view all orders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56601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EF Core models mapped to greencartdb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 –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Gateway, Discovery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Routing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enters via Spring Cloud Gateway on port 8080 and is routed by path prefix: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4EFD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/user/**, /location/**, /security/**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898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6440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4EFD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/api/products/**, /api/categories/**, /stocks/**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55701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 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4EFD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684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/api/orders/**, /api/cart/**, /api/farmer/orders/**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2153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Buyer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58114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4EFD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626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/api/admin/**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8737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 Service (.NET)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self-registers with Eureka (port 8761); global CORS allows the React dev server.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F4A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Security Flow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148840"/>
            <a:ext cx="310896" cy="310896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2" dirty="0"/>
          </a:p>
        </p:txBody>
      </p:sp>
      <p:sp>
        <p:nvSpPr>
          <p:cNvPr id="24" name="Text 22"/>
          <p:cNvSpPr/>
          <p:nvPr/>
        </p:nvSpPr>
        <p:spPr>
          <a:xfrm>
            <a:off x="6967728" y="20939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User Service validates credentials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92240" y="2715768"/>
            <a:ext cx="310896" cy="310896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2" dirty="0"/>
          </a:p>
        </p:txBody>
      </p:sp>
      <p:sp>
        <p:nvSpPr>
          <p:cNvPr id="27" name="Text 25"/>
          <p:cNvSpPr/>
          <p:nvPr/>
        </p:nvSpPr>
        <p:spPr>
          <a:xfrm>
            <a:off x="6967728" y="26609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issued, containing identity &amp; role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492240" y="3282696"/>
            <a:ext cx="310896" cy="310896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2" dirty="0"/>
          </a:p>
        </p:txBody>
      </p:sp>
      <p:sp>
        <p:nvSpPr>
          <p:cNvPr id="30" name="Text 28"/>
          <p:cNvSpPr/>
          <p:nvPr/>
        </p:nvSpPr>
        <p:spPr>
          <a:xfrm>
            <a:off x="6967728" y="3227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JWT in Authorization header on each request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92240" y="3849624"/>
            <a:ext cx="310896" cy="310896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2" dirty="0"/>
          </a:p>
        </p:txBody>
      </p:sp>
      <p:sp>
        <p:nvSpPr>
          <p:cNvPr id="33" name="Text 31"/>
          <p:cNvSpPr/>
          <p:nvPr/>
        </p:nvSpPr>
        <p:spPr>
          <a:xfrm>
            <a:off x="6967728" y="3794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validates token, populates Spring Security context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92240" y="4416552"/>
            <a:ext cx="310896" cy="310896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2" dirty="0"/>
          </a:p>
        </p:txBody>
      </p:sp>
      <p:sp>
        <p:nvSpPr>
          <p:cNvPr id="36" name="Text 34"/>
          <p:cNvSpPr/>
          <p:nvPr/>
        </p:nvSpPr>
        <p:spPr>
          <a:xfrm>
            <a:off x="6967728" y="43616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enforced (e.g. only Farmers manage products; only Admins approve accounts)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492240" y="4983480"/>
            <a:ext cx="310896" cy="310896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2" dirty="0"/>
          </a:p>
        </p:txBody>
      </p:sp>
      <p:sp>
        <p:nvSpPr>
          <p:cNvPr id="39" name="Text 37"/>
          <p:cNvSpPr/>
          <p:nvPr/>
        </p:nvSpPr>
        <p:spPr>
          <a:xfrm>
            <a:off x="6967728" y="49286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never stored or transmitted in plain text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Java microservice includes Spring Boot context-load tests; the .NET Admin Service is structured for xUnit testing. Manual functional testing verified all use cases end to end.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F4A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438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2011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 duplicate username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438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with validation error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835640" y="255117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FA05A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5640" y="25511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8036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correct credentials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4380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issued, role-based redirect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835640" y="300837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FA05A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5640" y="30083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8036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adds new product with stock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438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Buyer's available list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835640" y="346557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FA05A"/>
          </a:solidFill>
          <a:ln/>
        </p:spPr>
      </p:sp>
      <p:sp>
        <p:nvSpPr>
          <p:cNvPr id="27" name="Text 25"/>
          <p:cNvSpPr/>
          <p:nvPr/>
        </p:nvSpPr>
        <p:spPr>
          <a:xfrm>
            <a:off x="10835640" y="34655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Service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80360" y="3840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&amp; place order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438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visible in Buyer &amp; Farmer views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835640" y="392277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FA05A"/>
          </a:solidFill>
          <a:ln/>
        </p:spPr>
      </p:sp>
      <p:sp>
        <p:nvSpPr>
          <p:cNvPr id="33" name="Text 31"/>
          <p:cNvSpPr/>
          <p:nvPr/>
        </p:nvSpPr>
        <p:spPr>
          <a:xfrm>
            <a:off x="10835640" y="39227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Service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80360" y="4297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suspends a Farmer account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438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Farmer denied next login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835640" y="437997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FA05A"/>
          </a:solidFill>
          <a:ln/>
        </p:spPr>
      </p:sp>
      <p:sp>
        <p:nvSpPr>
          <p:cNvPr id="39" name="Text 37"/>
          <p:cNvSpPr/>
          <p:nvPr/>
        </p:nvSpPr>
        <p:spPr>
          <a:xfrm>
            <a:off x="10835640" y="43799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solidFill>
            <a:srgbClr val="E4EFDD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8036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without valid JWT to secured route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4380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unauthorized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835640" y="483717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6FA05A"/>
          </a:solidFill>
          <a:ln/>
        </p:spPr>
      </p:sp>
      <p:sp>
        <p:nvSpPr>
          <p:cNvPr id="45" name="Text 43"/>
          <p:cNvSpPr/>
          <p:nvPr/>
        </p:nvSpPr>
        <p:spPr>
          <a:xfrm>
            <a:off x="10835640" y="48371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731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1005840" y="16184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GreenCart, a microservices platform connecting farmers directly with wholesale buyers — removing dependency on middlemen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274320" cy="2743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005840" y="22768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four independently deployable services (User, Product, Buyer, Admin) with a polyglot Spring Boot + ASP.NET Core 8 stack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274320" cy="2743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1005840" y="293522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services through a Spring Cloud API Gateway and Eureka Discovery Server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274320" cy="2743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1005840" y="35935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normalized MySQL schema and secured all services with stateless JWT authentication and role-based access 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274320" cy="27432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single React + Redux Toolkit frontend with distinct role-appropriate dashboards for Farmers, Buyers and Admins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4A2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that a microservices architecture, even with a mixed Java/.NET backend, can be integrated behind a single gateway to deliver a coherent, role-based marketplace experience.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1874520"/>
            <a:ext cx="640080" cy="64008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Payments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payment gateway alongside Cash-on-Delivery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874520"/>
            <a:ext cx="640080" cy="64008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2935224" y="26974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Tracking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80944" y="333756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delivery-partner module with real-time tracking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88152" y="1874520"/>
            <a:ext cx="640080" cy="64008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16" name="Text 14"/>
          <p:cNvSpPr/>
          <p:nvPr/>
        </p:nvSpPr>
        <p:spPr>
          <a:xfrm>
            <a:off x="578815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5184648" y="26974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Analytics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30368" y="333756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Market-price visibility &amp; analytics dashboards for Farmers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6912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7576" y="1874520"/>
            <a:ext cx="640080" cy="64008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1" name="Text 19"/>
          <p:cNvSpPr/>
          <p:nvPr/>
        </p:nvSpPr>
        <p:spPr>
          <a:xfrm>
            <a:off x="803757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⛴</a:t>
            </a:r>
            <a:endParaRPr lang="en-US" sz="1960" dirty="0"/>
          </a:p>
        </p:txBody>
      </p:sp>
      <p:sp>
        <p:nvSpPr>
          <p:cNvPr id="22" name="Text 20"/>
          <p:cNvSpPr/>
          <p:nvPr/>
        </p:nvSpPr>
        <p:spPr>
          <a:xfrm>
            <a:off x="7434072" y="26974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79792" y="333756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for easier deployment &amp; horizontal scaling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46336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4EFDD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4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87000" y="1874520"/>
            <a:ext cx="640080" cy="64008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960" dirty="0"/>
          </a:p>
        </p:txBody>
      </p:sp>
      <p:sp>
        <p:nvSpPr>
          <p:cNvPr id="27" name="Text 25"/>
          <p:cNvSpPr/>
          <p:nvPr/>
        </p:nvSpPr>
        <p:spPr>
          <a:xfrm>
            <a:off x="9683496" y="26974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Catalogue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29216" y="333756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filtering and recommendation features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Farmer-to-Buyer E-Commerce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F4A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Spring Boot Reference Documentation — docs.spring.io/spring-boot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Spring Cloud Gateway Reference Documentation — docs.spring.io/spring-cloud-gateway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Netflix Eureka / Spring Cloud Netflix — docs.spring.io/spring-cloud-netflix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ASP.NET Core Documentation, Microsoft — learn.microsoft.com/aspnet/core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8833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Entity Framework Core Documentation, Microsoft — learn.microsoft.com/ef/core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React Documentation — react.dev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467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Redux Toolkit Documentation — redux-toolkit.js.org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758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MySQL 8.0 Reference Manual — dev.mysql.com/doc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050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JSON Web Token (JWT) — RFC 7519, IETF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3425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GreenCart BRS &amp; SRS (project documents), GreenCart Group,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789920" cy="0"/>
          </a:xfrm>
          <a:prstGeom prst="line">
            <a:avLst/>
          </a:prstGeom>
          <a:noFill/>
          <a:ln w="12700">
            <a:solidFill>
              <a:srgbClr val="6FA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83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GreenCart — C-DAC ACTS, Pune  |  Tushar Chaudhari · Sushant Pawar · Ajinkya Shedge · Siddhesh Chandere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2026-08-06T08:13:44Z</dcterms:created>
  <dcterms:modified xsi:type="dcterms:W3CDTF">2026-08-06T08:13:44Z</dcterms:modified>
</cp:coreProperties>
</file>